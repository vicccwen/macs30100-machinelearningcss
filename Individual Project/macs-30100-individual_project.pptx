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Helvetica Neue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1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4" roundtripDataSignature="AMtx7mizA6+6pI9Ce7BEvg9DYFXK+tFb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1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regular.fntdata"/><Relationship Id="rId22" Type="http://schemas.openxmlformats.org/officeDocument/2006/relationships/font" Target="fonts/HelveticaNeue-italic.fntdata"/><Relationship Id="rId21" Type="http://schemas.openxmlformats.org/officeDocument/2006/relationships/font" Target="fonts/HelveticaNeue-bold.fntdata"/><Relationship Id="rId24" Type="http://customschemas.google.com/relationships/presentationmetadata" Target="metadata"/><Relationship Id="rId23" Type="http://schemas.openxmlformats.org/officeDocument/2006/relationships/font" Target="fonts/HelveticaNeue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d521d638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cd521d638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d521d6380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cd521d6380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d521d6380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d521d6380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d521d6380_0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d521d6380_0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cd521d6380_0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d521d6380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d521d6380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d521d6380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d521d6380_0_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d521d6380_0_1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d521d6380_0_1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d521d6380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d521d6380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d521d6380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d521d6380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d521d6380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cd521d6380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d521d6380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d521d6380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cd521d6380_0_1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d521d6380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cd521d6380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cd521d6380_0_2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d521d6380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d521d6380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cd521d6380_0_1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d521d6380_0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cd521d6380_0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Shield" showMasterSp="0">
  <p:cSld name="Title Slide Grey Shield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3"/>
          <p:cNvGrpSpPr/>
          <p:nvPr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21" name="Google Shape;21;p33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33"/>
            <p:cNvPicPr preferRelativeResize="0"/>
            <p:nvPr/>
          </p:nvPicPr>
          <p:blipFill rotWithShape="1">
            <a:blip r:embed="rId3">
              <a:alphaModFix amt="15000"/>
            </a:blip>
            <a:srcRect b="0" l="0" r="0" t="0"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" name="Google Shape;23;p33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3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25" name="Google Shape;25;p33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26" name="Google Shape;26;p33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27" name="Google Shape;27;p33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28" name="Google Shape;28;p33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29" name="Google Shape;29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4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Phoenix" showMasterSp="0">
  <p:cSld name="Title Slide Grey Phoenix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5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35" name="Google Shape;35;p35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36" name="Google Shape;36;p35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37" name="Google Shape;37;p35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38" name="Google Shape;38;p3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9" name="Google Shape;39;p35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35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5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Dark Greystone" showMasterSp="0">
  <p:cSld name="Title Slide Dark Greystone">
    <p:bg>
      <p:bgPr>
        <a:solidFill>
          <a:schemeClr val="dk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36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44" name="Google Shape;44;p36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45" name="Google Shape;45;p36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46" name="Google Shape;46;p36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47" name="Google Shape;47;p3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" name="Google Shape;48;p36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49" name="Google Shape;49;p36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0" name="Google Shape;50;p36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5156004" y="749809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36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Helvetica Neue"/>
              <a:buNone/>
              <a:defRPr b="0" i="0" sz="4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 Greystone" showMasterSp="0" type="secHead">
  <p:cSld name="SECTION_HEADER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37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55" name="Google Shape;55;p37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56" name="Google Shape;56;p37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57" name="Google Shape;57;p37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58" name="Google Shape;58;p3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37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Helvetica Neue"/>
              <a:buNone/>
              <a:defRPr b="0" i="0" sz="4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37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3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hite" showMasterSp="0">
  <p:cSld name="Section Header White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38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65" name="Google Shape;65;p38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66" name="Google Shape;66;p38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67" name="Google Shape;67;p38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68" name="Google Shape;68;p3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38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38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00"/>
              <a:buFont typeface="Helvetica Neue"/>
              <a:buNone/>
              <a:defRPr b="0" i="0" sz="4000">
                <a:solidFill>
                  <a:srgbClr val="8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3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9429243" y="0"/>
            <a:ext cx="3836416" cy="3356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Maroon" showMasterSp="0">
  <p:cSld name="Section Header Maroon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/>
          <p:nvPr/>
        </p:nvSpPr>
        <p:spPr>
          <a:xfrm>
            <a:off x="0" y="3"/>
            <a:ext cx="12192000" cy="686523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75" name="Google Shape;75;p39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sp>
          <p:nvSpPr>
            <p:cNvPr id="76" name="Google Shape;76;p39"/>
            <p:cNvSpPr/>
            <p:nvPr/>
          </p:nvSpPr>
          <p:spPr>
            <a:xfrm>
              <a:off x="0" y="6430895"/>
              <a:ext cx="12192000" cy="46634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descr="A black background with white text&#10;&#10;AI-generated content may be incorrect." id="77" name="Google Shape;77;p3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39"/>
          <p:cNvSpPr txBox="1"/>
          <p:nvPr>
            <p:ph idx="1" type="body"/>
          </p:nvPr>
        </p:nvSpPr>
        <p:spPr>
          <a:xfrm>
            <a:off x="831851" y="4968566"/>
            <a:ext cx="10515600" cy="925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9" name="Google Shape;79;p39"/>
          <p:cNvSpPr txBox="1"/>
          <p:nvPr>
            <p:ph type="title"/>
          </p:nvPr>
        </p:nvSpPr>
        <p:spPr>
          <a:xfrm>
            <a:off x="831851" y="2359716"/>
            <a:ext cx="10515600" cy="25818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000"/>
              <a:buFont typeface="Helvetica Neue"/>
              <a:buNone/>
              <a:defRPr b="0" i="0" sz="40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1" name="Google Shape;81;p39"/>
          <p:cNvPicPr preferRelativeResize="0"/>
          <p:nvPr/>
        </p:nvPicPr>
        <p:blipFill rotWithShape="1">
          <a:blip r:embed="rId3">
            <a:alphaModFix amt="50000"/>
          </a:blip>
          <a:srcRect b="0" l="0" r="0" t="0"/>
          <a:stretch/>
        </p:blipFill>
        <p:spPr>
          <a:xfrm>
            <a:off x="9427464" y="0"/>
            <a:ext cx="3836416" cy="3356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0"/>
          <p:cNvSpPr txBox="1"/>
          <p:nvPr>
            <p:ph type="title"/>
          </p:nvPr>
        </p:nvSpPr>
        <p:spPr>
          <a:xfrm>
            <a:off x="839788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40"/>
          <p:cNvSpPr txBox="1"/>
          <p:nvPr>
            <p:ph idx="2" type="body"/>
          </p:nvPr>
        </p:nvSpPr>
        <p:spPr>
          <a:xfrm>
            <a:off x="839789" y="2505078"/>
            <a:ext cx="5157787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3" type="body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80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40"/>
          <p:cNvSpPr txBox="1"/>
          <p:nvPr>
            <p:ph idx="4" type="body"/>
          </p:nvPr>
        </p:nvSpPr>
        <p:spPr>
          <a:xfrm>
            <a:off x="6172202" y="2505078"/>
            <a:ext cx="5183188" cy="340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40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1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1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4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2"/>
          <p:cNvSpPr/>
          <p:nvPr>
            <p:ph idx="2" type="pic"/>
          </p:nvPr>
        </p:nvSpPr>
        <p:spPr>
          <a:xfrm>
            <a:off x="838200" y="1811871"/>
            <a:ext cx="7315200" cy="4049183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42"/>
          <p:cNvSpPr txBox="1"/>
          <p:nvPr>
            <p:ph idx="1" type="body"/>
          </p:nvPr>
        </p:nvSpPr>
        <p:spPr>
          <a:xfrm>
            <a:off x="8610600" y="1811868"/>
            <a:ext cx="2743200" cy="4057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b="0" i="0"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96" name="Google Shape;96;p4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42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Bullets">
  <p:cSld name="Picture with Bullet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3"/>
          <p:cNvSpPr/>
          <p:nvPr>
            <p:ph idx="2" type="pic"/>
          </p:nvPr>
        </p:nvSpPr>
        <p:spPr>
          <a:xfrm>
            <a:off x="838200" y="1811871"/>
            <a:ext cx="4919133" cy="4049183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43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43"/>
          <p:cNvSpPr txBox="1"/>
          <p:nvPr>
            <p:ph idx="1" type="body"/>
          </p:nvPr>
        </p:nvSpPr>
        <p:spPr>
          <a:xfrm>
            <a:off x="6434671" y="1809751"/>
            <a:ext cx="4919133" cy="4059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619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100"/>
              <a:buChar char="•"/>
              <a:defRPr b="0" i="0" sz="21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b="0" i="0" sz="1500"/>
            </a:lvl4pPr>
            <a:lvl5pPr indent="-3238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 b="0" i="0" sz="15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43"/>
          <p:cNvSpPr txBox="1"/>
          <p:nvPr>
            <p:ph type="title"/>
          </p:nvPr>
        </p:nvSpPr>
        <p:spPr>
          <a:xfrm>
            <a:off x="838200" y="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with Caption">
  <p:cSld name="3 Pictur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44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4"/>
          <p:cNvSpPr/>
          <p:nvPr>
            <p:ph idx="2" type="pic"/>
          </p:nvPr>
        </p:nvSpPr>
        <p:spPr>
          <a:xfrm>
            <a:off x="838203" y="1811867"/>
            <a:ext cx="3356036" cy="2047752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44"/>
          <p:cNvSpPr txBox="1"/>
          <p:nvPr>
            <p:ph idx="1" type="body"/>
          </p:nvPr>
        </p:nvSpPr>
        <p:spPr>
          <a:xfrm>
            <a:off x="838201" y="3995065"/>
            <a:ext cx="3356035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8" name="Google Shape;108;p44"/>
          <p:cNvSpPr txBox="1"/>
          <p:nvPr>
            <p:ph idx="3" type="body"/>
          </p:nvPr>
        </p:nvSpPr>
        <p:spPr>
          <a:xfrm>
            <a:off x="4417013" y="3995065"/>
            <a:ext cx="3357971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44"/>
          <p:cNvSpPr txBox="1"/>
          <p:nvPr>
            <p:ph idx="4" type="body"/>
          </p:nvPr>
        </p:nvSpPr>
        <p:spPr>
          <a:xfrm>
            <a:off x="7995828" y="3995065"/>
            <a:ext cx="3357969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0" i="0"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44"/>
          <p:cNvSpPr/>
          <p:nvPr>
            <p:ph idx="5" type="pic"/>
          </p:nvPr>
        </p:nvSpPr>
        <p:spPr>
          <a:xfrm>
            <a:off x="4417015" y="1811870"/>
            <a:ext cx="3357972" cy="2048933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44"/>
          <p:cNvSpPr/>
          <p:nvPr>
            <p:ph idx="6" type="pic"/>
          </p:nvPr>
        </p:nvSpPr>
        <p:spPr>
          <a:xfrm>
            <a:off x="7995827" y="1811870"/>
            <a:ext cx="3357972" cy="204893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Full Slide" showMasterSp="0">
  <p:cSld name="Picture Full Slid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45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14" name="Google Shape;114;p45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15" name="Google Shape;115;p45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16" name="Google Shape;116;p45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17" name="Google Shape;117;p4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" name="Google Shape;118;p45"/>
          <p:cNvSpPr/>
          <p:nvPr>
            <p:ph idx="2" type="pic"/>
          </p:nvPr>
        </p:nvSpPr>
        <p:spPr>
          <a:xfrm>
            <a:off x="0" y="4"/>
            <a:ext cx="12192000" cy="6379784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45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icture Stacked" showMasterSp="0">
  <p:cSld name="4 Picture Stacked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46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22" name="Google Shape;122;p46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23" name="Google Shape;123;p46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24" name="Google Shape;124;p46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25" name="Google Shape;125;p4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46"/>
          <p:cNvSpPr/>
          <p:nvPr>
            <p:ph idx="2" type="pic"/>
          </p:nvPr>
        </p:nvSpPr>
        <p:spPr>
          <a:xfrm>
            <a:off x="2" y="3231643"/>
            <a:ext cx="6065519" cy="3184256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46"/>
          <p:cNvSpPr/>
          <p:nvPr>
            <p:ph idx="3" type="pic"/>
          </p:nvPr>
        </p:nvSpPr>
        <p:spPr>
          <a:xfrm>
            <a:off x="6126480" y="3231643"/>
            <a:ext cx="6065523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46"/>
          <p:cNvSpPr/>
          <p:nvPr>
            <p:ph idx="4" type="pic"/>
          </p:nvPr>
        </p:nvSpPr>
        <p:spPr>
          <a:xfrm>
            <a:off x="0" y="2"/>
            <a:ext cx="6065520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46"/>
          <p:cNvSpPr/>
          <p:nvPr>
            <p:ph idx="5" type="pic"/>
          </p:nvPr>
        </p:nvSpPr>
        <p:spPr>
          <a:xfrm>
            <a:off x="6126480" y="2"/>
            <a:ext cx="6065523" cy="3172968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46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Shield" showMasterSp="0">
  <p:cSld name="Closing Slide Shield"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47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33" name="Google Shape;133;p47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34" name="Google Shape;134;p47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35" name="Google Shape;135;p47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36" name="Google Shape;136;p4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" name="Google Shape;137;p47"/>
          <p:cNvGrpSpPr/>
          <p:nvPr/>
        </p:nvGrpSpPr>
        <p:grpSpPr>
          <a:xfrm>
            <a:off x="6995160" y="-2087105"/>
            <a:ext cx="8384488" cy="10850515"/>
            <a:chOff x="3890639" y="-2045539"/>
            <a:chExt cx="8193228" cy="10603002"/>
          </a:xfrm>
        </p:grpSpPr>
        <p:pic>
          <p:nvPicPr>
            <p:cNvPr id="138" name="Google Shape;138;p47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3890639" y="-2045539"/>
              <a:ext cx="8193228" cy="106030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47"/>
            <p:cNvPicPr preferRelativeResize="0"/>
            <p:nvPr/>
          </p:nvPicPr>
          <p:blipFill rotWithShape="1">
            <a:blip r:embed="rId4">
              <a:alphaModFix amt="15000"/>
            </a:blip>
            <a:srcRect b="0" l="0" r="0" t="0"/>
            <a:stretch/>
          </p:blipFill>
          <p:spPr>
            <a:xfrm>
              <a:off x="5173001" y="727132"/>
              <a:ext cx="5641848" cy="49366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0" name="Google Shape;140;p47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1" name="Google Shape;141;p47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Grey Phoenix" showMasterSp="0">
  <p:cSld name="Closing Slide Grey Phoenix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48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44" name="Google Shape;144;p48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45" name="Google Shape;145;p48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46" name="Google Shape;146;p48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47" name="Google Shape;147;p4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8" name="Google Shape;148;p48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9" name="Google Shape;149;p48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p48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8307457" y="750290"/>
            <a:ext cx="5773549" cy="5051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Grey Bar" showMasterSp="0">
  <p:cSld name="Closing Slide Grey Bar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9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53" name="Google Shape;153;p49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54" name="Google Shape;154;p49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55" name="Google Shape;155;p49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56" name="Google Shape;156;p4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49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158" name="Google Shape;158;p49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59" name="Google Shape;159;p49"/>
            <p:cNvPicPr preferRelativeResize="0"/>
            <p:nvPr/>
          </p:nvPicPr>
          <p:blipFill rotWithShape="1">
            <a:blip r:embed="rId3">
              <a:alphaModFix amt="15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0" name="Google Shape;160;p49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rgbClr val="767676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1" name="Google Shape;161;p49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Dark Greystone" showMasterSp="0">
  <p:cSld name="Closing Slide Dark Greystone">
    <p:bg>
      <p:bgPr>
        <a:solidFill>
          <a:schemeClr val="dk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50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164" name="Google Shape;164;p50"/>
            <p:cNvSpPr/>
            <p:nvPr/>
          </p:nvSpPr>
          <p:spPr>
            <a:xfrm>
              <a:off x="5303520" y="0"/>
              <a:ext cx="3732588" cy="6400800"/>
            </a:xfrm>
            <a:prstGeom prst="rect">
              <a:avLst/>
            </a:prstGeom>
            <a:solidFill>
              <a:srgbClr val="A6A6A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65" name="Google Shape;165;p50"/>
            <p:cNvPicPr preferRelativeResize="0"/>
            <p:nvPr/>
          </p:nvPicPr>
          <p:blipFill rotWithShape="1">
            <a:blip r:embed="rId2">
              <a:alphaModFix amt="30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50"/>
          <p:cNvSpPr txBox="1"/>
          <p:nvPr>
            <p:ph idx="1" type="body"/>
          </p:nvPr>
        </p:nvSpPr>
        <p:spPr>
          <a:xfrm>
            <a:off x="831852" y="2430928"/>
            <a:ext cx="5264149" cy="1991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7" name="Google Shape;167;p50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age Background Shield" showMasterSp="0" type="title">
  <p:cSld name="TITLE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51"/>
          <p:cNvPicPr preferRelativeResize="0"/>
          <p:nvPr/>
        </p:nvPicPr>
        <p:blipFill rotWithShape="1">
          <a:blip r:embed="rId2">
            <a:alphaModFix/>
          </a:blip>
          <a:srcRect b="9306" l="1" r="25845" t="28434"/>
          <a:stretch/>
        </p:blipFill>
        <p:spPr>
          <a:xfrm>
            <a:off x="-1" y="0"/>
            <a:ext cx="12192001" cy="68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1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-2703201" y="-2649403"/>
            <a:ext cx="9640714" cy="1247621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1"/>
          <p:cNvSpPr txBox="1"/>
          <p:nvPr>
            <p:ph type="ctrTitle"/>
          </p:nvPr>
        </p:nvSpPr>
        <p:spPr>
          <a:xfrm>
            <a:off x="914400" y="1201106"/>
            <a:ext cx="37761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1"/>
          <p:cNvSpPr txBox="1"/>
          <p:nvPr>
            <p:ph idx="1" type="subTitle"/>
          </p:nvPr>
        </p:nvSpPr>
        <p:spPr>
          <a:xfrm>
            <a:off x="950580" y="3680781"/>
            <a:ext cx="3739954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grpSp>
        <p:nvGrpSpPr>
          <p:cNvPr id="173" name="Google Shape;173;p51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74" name="Google Shape;174;p51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75" name="Google Shape;175;p51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76" name="Google Shape;176;p51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77" name="Google Shape;177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51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Image Background Bar" showMasterSp="0">
  <p:cSld name="Title Slide Image Background Ba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52"/>
          <p:cNvPicPr preferRelativeResize="0"/>
          <p:nvPr/>
        </p:nvPicPr>
        <p:blipFill rotWithShape="1">
          <a:blip r:embed="rId2">
            <a:alphaModFix/>
          </a:blip>
          <a:srcRect b="9209" l="0" r="25845" t="28434"/>
          <a:stretch/>
        </p:blipFill>
        <p:spPr>
          <a:xfrm>
            <a:off x="-1" y="0"/>
            <a:ext cx="12192000" cy="683481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52"/>
          <p:cNvSpPr/>
          <p:nvPr/>
        </p:nvSpPr>
        <p:spPr>
          <a:xfrm>
            <a:off x="-1" y="-15888"/>
            <a:ext cx="5306907" cy="6475015"/>
          </a:xfrm>
          <a:prstGeom prst="rect">
            <a:avLst/>
          </a:prstGeom>
          <a:solidFill>
            <a:schemeClr val="lt1">
              <a:alpha val="7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82" name="Google Shape;182;p52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83" name="Google Shape;183;p52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84" name="Google Shape;184;p52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85" name="Google Shape;185;p52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86" name="Google Shape;186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" name="Google Shape;187;p52"/>
          <p:cNvSpPr txBox="1"/>
          <p:nvPr>
            <p:ph type="ctrTitle"/>
          </p:nvPr>
        </p:nvSpPr>
        <p:spPr>
          <a:xfrm>
            <a:off x="914400" y="1201106"/>
            <a:ext cx="377613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2"/>
          <p:cNvSpPr txBox="1"/>
          <p:nvPr>
            <p:ph idx="1" type="subTitle"/>
          </p:nvPr>
        </p:nvSpPr>
        <p:spPr>
          <a:xfrm>
            <a:off x="950580" y="3680781"/>
            <a:ext cx="3739954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9" name="Google Shape;189;p5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ey Bar" showMasterSp="0">
  <p:cSld name="Title Slide Grey Bar">
    <p:bg>
      <p:bgPr>
        <a:solidFill>
          <a:schemeClr val="lt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191;p53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92" name="Google Shape;192;p53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93" name="Google Shape;193;p53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94" name="Google Shape;194;p53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95" name="Google Shape;195;p5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53"/>
          <p:cNvGrpSpPr/>
          <p:nvPr/>
        </p:nvGrpSpPr>
        <p:grpSpPr>
          <a:xfrm>
            <a:off x="8311896" y="0"/>
            <a:ext cx="5773549" cy="6400800"/>
            <a:chOff x="5156004" y="0"/>
            <a:chExt cx="5773549" cy="6400800"/>
          </a:xfrm>
        </p:grpSpPr>
        <p:sp>
          <p:nvSpPr>
            <p:cNvPr id="197" name="Google Shape;197;p53"/>
            <p:cNvSpPr/>
            <p:nvPr/>
          </p:nvSpPr>
          <p:spPr>
            <a:xfrm>
              <a:off x="5303520" y="0"/>
              <a:ext cx="3840480" cy="6400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198" name="Google Shape;198;p53"/>
            <p:cNvPicPr preferRelativeResize="0"/>
            <p:nvPr/>
          </p:nvPicPr>
          <p:blipFill rotWithShape="1">
            <a:blip r:embed="rId3">
              <a:alphaModFix amt="15000"/>
            </a:blip>
            <a:srcRect b="0" l="0" r="0" t="0"/>
            <a:stretch/>
          </p:blipFill>
          <p:spPr>
            <a:xfrm>
              <a:off x="5156004" y="750290"/>
              <a:ext cx="5773549" cy="50518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53"/>
          <p:cNvSpPr txBox="1"/>
          <p:nvPr>
            <p:ph type="ctrTitle"/>
          </p:nvPr>
        </p:nvSpPr>
        <p:spPr>
          <a:xfrm>
            <a:off x="914400" y="1201106"/>
            <a:ext cx="558393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Helvetica Neue"/>
              <a:buNone/>
              <a:defRPr b="0" i="0" sz="48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53"/>
          <p:cNvSpPr txBox="1"/>
          <p:nvPr>
            <p:ph idx="1" type="subTitle"/>
          </p:nvPr>
        </p:nvSpPr>
        <p:spPr>
          <a:xfrm>
            <a:off x="950579" y="3680781"/>
            <a:ext cx="5551823" cy="623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i="0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4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5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b="0" i="0"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b="0" i="0"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b="0" i="0"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b="0" i="0" sz="16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54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5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2"/>
          <p:cNvGrpSpPr/>
          <p:nvPr/>
        </p:nvGrpSpPr>
        <p:grpSpPr>
          <a:xfrm>
            <a:off x="0" y="6332080"/>
            <a:ext cx="12192000" cy="663974"/>
            <a:chOff x="0" y="6332080"/>
            <a:chExt cx="12192000" cy="663974"/>
          </a:xfrm>
        </p:grpSpPr>
        <p:grpSp>
          <p:nvGrpSpPr>
            <p:cNvPr id="11" name="Google Shape;11;p32"/>
            <p:cNvGrpSpPr/>
            <p:nvPr/>
          </p:nvGrpSpPr>
          <p:grpSpPr>
            <a:xfrm>
              <a:off x="0" y="6426321"/>
              <a:ext cx="12192000" cy="470918"/>
              <a:chOff x="0" y="6395648"/>
              <a:chExt cx="12192000" cy="470918"/>
            </a:xfrm>
          </p:grpSpPr>
          <p:sp>
            <p:nvSpPr>
              <p:cNvPr id="12" name="Google Shape;12;p32"/>
              <p:cNvSpPr/>
              <p:nvPr/>
            </p:nvSpPr>
            <p:spPr>
              <a:xfrm>
                <a:off x="0" y="6400222"/>
                <a:ext cx="12192000" cy="466344"/>
              </a:xfrm>
              <a:prstGeom prst="rec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50" u="none" cap="none" strike="noStrike">
                  <a:solidFill>
                    <a:schemeClr val="lt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3" name="Google Shape;13;p32"/>
              <p:cNvCxnSpPr/>
              <p:nvPr/>
            </p:nvCxnSpPr>
            <p:spPr>
              <a:xfrm>
                <a:off x="0" y="6395648"/>
                <a:ext cx="12192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6D6CE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pic>
          <p:nvPicPr>
            <p:cNvPr descr="A black background with white text&#10;&#10;AI-generated content may be incorrect." id="14" name="Google Shape;14;p32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0" y="6332080"/>
              <a:ext cx="1913345" cy="663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32"/>
          <p:cNvSpPr txBox="1"/>
          <p:nvPr>
            <p:ph type="title"/>
          </p:nvPr>
        </p:nvSpPr>
        <p:spPr>
          <a:xfrm>
            <a:off x="838200" y="0"/>
            <a:ext cx="10515600" cy="1312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Helvetica Neue"/>
              <a:buNone/>
              <a:defRPr b="0" i="0" sz="3600" u="none" cap="none" strike="noStrike">
                <a:solidFill>
                  <a:srgbClr val="8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" name="Google Shape;16;p32"/>
          <p:cNvSpPr txBox="1"/>
          <p:nvPr>
            <p:ph idx="1" type="body"/>
          </p:nvPr>
        </p:nvSpPr>
        <p:spPr>
          <a:xfrm>
            <a:off x="838200" y="1534136"/>
            <a:ext cx="10515600" cy="4429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76767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8610601" y="6459132"/>
            <a:ext cx="34323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32"/>
          <p:cNvCxnSpPr/>
          <p:nvPr/>
        </p:nvCxnSpPr>
        <p:spPr>
          <a:xfrm>
            <a:off x="0" y="1344113"/>
            <a:ext cx="12192000" cy="0"/>
          </a:xfrm>
          <a:prstGeom prst="straightConnector1">
            <a:avLst/>
          </a:prstGeom>
          <a:noFill/>
          <a:ln cap="flat" cmpd="sng" w="38100">
            <a:solidFill>
              <a:srgbClr val="D6D6CE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file/d/1GFaC-cjp0WDPthYG6yaWwY5rSVEYHYx7/view?usp=shar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"/>
          <p:cNvSpPr txBox="1"/>
          <p:nvPr>
            <p:ph type="ctrTitle"/>
          </p:nvPr>
        </p:nvSpPr>
        <p:spPr>
          <a:xfrm>
            <a:off x="914400" y="1201100"/>
            <a:ext cx="10384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MACS 30100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Comparing Lexical (TF-IDF) and Semantic Representations in Sentence-Level Sentiment Classification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1"/>
          <p:cNvSpPr txBox="1"/>
          <p:nvPr>
            <p:ph idx="1" type="subTitle"/>
          </p:nvPr>
        </p:nvSpPr>
        <p:spPr>
          <a:xfrm>
            <a:off x="950602" y="3681100"/>
            <a:ext cx="7420500" cy="1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Victoria Wen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Video Link: </a:t>
            </a:r>
            <a:endParaRPr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3"/>
              </a:rPr>
              <a:t>https://drive.google.com/file/d/1GFaC-cjp0WDPthYG6yaWwY5rSVEYHYx7/view?usp=sharing</a:t>
            </a:r>
            <a:r>
              <a:rPr lang="en-US">
                <a:latin typeface="Times"/>
                <a:ea typeface="Times"/>
                <a:cs typeface="Times"/>
                <a:sym typeface="Times"/>
              </a:rPr>
              <a:t> 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"/>
              <a:buNone/>
            </a:pPr>
            <a:r>
              <a:rPr lang="en-US"/>
              <a:t>Background and Motivations</a:t>
            </a:r>
            <a:endParaRPr/>
          </a:p>
        </p:txBody>
      </p:sp>
      <p:sp>
        <p:nvSpPr>
          <p:cNvPr id="219" name="Google Shape;219;p2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"/>
                <a:ea typeface="Times"/>
                <a:cs typeface="Times"/>
                <a:sym typeface="Times"/>
              </a:rPr>
              <a:t>‹#›</a:t>
            </a:fld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"/>
          <p:cNvSpPr txBox="1"/>
          <p:nvPr/>
        </p:nvSpPr>
        <p:spPr>
          <a:xfrm>
            <a:off x="8978250" y="1421974"/>
            <a:ext cx="2701200" cy="4233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In this Study:</a:t>
            </a:r>
            <a:endParaRPr b="1"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1. </a:t>
            </a:r>
            <a:r>
              <a:rPr lang="en-US" sz="2100">
                <a:solidFill>
                  <a:schemeClr val="dk1"/>
                </a:solidFill>
              </a:rPr>
              <a:t>Direct comparison of TF-IDF (lexical) and Embedding (semantic) logistic regression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2. Unsupervised Learning- Clustering</a:t>
            </a:r>
            <a:endParaRPr sz="21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21" name="Google Shape;221;p2"/>
          <p:cNvSpPr txBox="1"/>
          <p:nvPr/>
        </p:nvSpPr>
        <p:spPr>
          <a:xfrm>
            <a:off x="118375" y="1312800"/>
            <a:ext cx="87330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Ramdan, D. S., &amp; Apnena, R. D. (2023)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TF-IDF features combined with logistic regression can successfully classify movie reviews into positive and negative sentiment.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Devlin, J., Chang, M.-W., Lee, K., &amp; Toutanova, K. (2019)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Pretrained contextual </a:t>
            </a:r>
            <a:r>
              <a:rPr b="1" lang="en-US" sz="2000"/>
              <a:t>embeddings</a:t>
            </a:r>
            <a:r>
              <a:rPr lang="en-US" sz="2000"/>
              <a:t> capture </a:t>
            </a:r>
            <a:r>
              <a:rPr b="1" lang="en-US" sz="2000"/>
              <a:t>rich semantic and affective information</a:t>
            </a:r>
            <a:r>
              <a:rPr lang="en-US" sz="2000"/>
              <a:t> that can be used for tasks such as sentiment classification.  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Reimers, N., &amp; Gurevych, I. (2019)</a:t>
            </a:r>
            <a:endParaRPr sz="2000"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/>
              <a:t>Introduces Sentence-BERT, showing that </a:t>
            </a:r>
            <a:r>
              <a:rPr b="1" lang="en-US" sz="2000"/>
              <a:t>sentence-level embeddings</a:t>
            </a:r>
            <a:r>
              <a:rPr lang="en-US" sz="2000"/>
              <a:t> are effective for semantic similarity and clustering tasks, supporting the representation framework used in this project.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d521d6380_0_14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"/>
              <a:buNone/>
            </a:pPr>
            <a:r>
              <a:rPr lang="en-US"/>
              <a:t>Research Questions and Hypotheses</a:t>
            </a:r>
            <a:endParaRPr/>
          </a:p>
        </p:txBody>
      </p:sp>
      <p:sp>
        <p:nvSpPr>
          <p:cNvPr id="227" name="Google Shape;227;g3cd521d6380_0_14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"/>
                <a:ea typeface="Times"/>
                <a:cs typeface="Times"/>
                <a:sym typeface="Times"/>
              </a:rPr>
              <a:t>‹#›</a:t>
            </a:fld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g3cd521d6380_0_14"/>
          <p:cNvSpPr txBox="1"/>
          <p:nvPr/>
        </p:nvSpPr>
        <p:spPr>
          <a:xfrm>
            <a:off x="653434" y="1564664"/>
            <a:ext cx="10700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/>
              <a:t>RQ: Do semantic embeddings capture human sentiment judgments better than lexical features? Do sentiments emerge in unsupervised clusters?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Hypothesis:  Embeddings are more effective for human sentiment judgments than lexical features, and sentiments will emerge in unsupervised clusters.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521d6380_0_20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"/>
              <a:buNone/>
            </a:pPr>
            <a:r>
              <a:rPr lang="en-US"/>
              <a:t>Data </a:t>
            </a:r>
            <a:r>
              <a:rPr lang="en-US"/>
              <a:t>Source</a:t>
            </a:r>
            <a:endParaRPr/>
          </a:p>
        </p:txBody>
      </p:sp>
      <p:sp>
        <p:nvSpPr>
          <p:cNvPr id="234" name="Google Shape;234;g3cd521d6380_0_20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"/>
                <a:ea typeface="Times"/>
                <a:cs typeface="Times"/>
                <a:sym typeface="Times"/>
              </a:rPr>
              <a:t>‹#›</a:t>
            </a:fld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g3cd521d6380_0_20"/>
          <p:cNvSpPr txBox="1"/>
          <p:nvPr/>
        </p:nvSpPr>
        <p:spPr>
          <a:xfrm>
            <a:off x="653434" y="1564664"/>
            <a:ext cx="107004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Stanford Sentiment Treebank (SST)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Contains</a:t>
            </a:r>
            <a:r>
              <a:rPr b="1" lang="en-US" sz="2200"/>
              <a:t> sentence-level movie reviews annotated for sentiment</a:t>
            </a:r>
            <a:r>
              <a:rPr lang="en-US" sz="2200"/>
              <a:t>, widely used for evaluating sentiment classification models.  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Data size: 215,154 phrases extracted from the parse trees of 11,855 sentences.  </a:t>
            </a:r>
            <a:endParaRPr sz="2200"/>
          </a:p>
          <a:p>
            <a:pPr indent="-3683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-US" sz="2200"/>
              <a:t>Amazon Mechanical Turk to annotate all 215,154 unique phrases obtained from the parse trees</a:t>
            </a:r>
            <a:endParaRPr sz="22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pic>
        <p:nvPicPr>
          <p:cNvPr id="236" name="Google Shape;236;g3cd521d6380_0_20" title="Screenshot 2026-03-05 at 15.06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2575" y="4550475"/>
            <a:ext cx="6182100" cy="16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cd521d6380_0_54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Times"/>
              <a:buNone/>
            </a:pPr>
            <a:r>
              <a:rPr lang="en-US"/>
              <a:t>EDA</a:t>
            </a:r>
            <a:endParaRPr/>
          </a:p>
        </p:txBody>
      </p:sp>
      <p:sp>
        <p:nvSpPr>
          <p:cNvPr id="242" name="Google Shape;242;g3cd521d6380_0_54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"/>
                <a:ea typeface="Times"/>
                <a:cs typeface="Times"/>
                <a:sym typeface="Times"/>
              </a:rPr>
              <a:t>‹#›</a:t>
            </a:fld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g3cd521d6380_0_54"/>
          <p:cNvSpPr txBox="1"/>
          <p:nvPr/>
        </p:nvSpPr>
        <p:spPr>
          <a:xfrm>
            <a:off x="153575" y="1438575"/>
            <a:ext cx="60588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Total sentences: 11855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split: train  8544; test  2210; dev 1101</a:t>
            </a:r>
            <a:endParaRPr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SOStr Fallback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map sentence → sentiment score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some raw sentence stings may not match the tokenized phrase in the dictionary file.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-US" sz="2400">
                <a:solidFill>
                  <a:schemeClr val="dk1"/>
                </a:solidFill>
              </a:rPr>
              <a:t>Sentence-level sentiment mapping coverage: 1.0000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244" name="Google Shape;244;g3cd521d6380_0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375" y="1438575"/>
            <a:ext cx="54387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d521d6380_0_62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EDA - Build the Dataset</a:t>
            </a:r>
            <a:endParaRPr/>
          </a:p>
        </p:txBody>
      </p:sp>
      <p:sp>
        <p:nvSpPr>
          <p:cNvPr id="251" name="Google Shape;251;g3cd521d6380_0_62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g3cd521d6380_0_62"/>
          <p:cNvSpPr txBox="1"/>
          <p:nvPr/>
        </p:nvSpPr>
        <p:spPr>
          <a:xfrm>
            <a:off x="350675" y="1514200"/>
            <a:ext cx="67041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sz="2400"/>
              <a:t>Binary split</a:t>
            </a:r>
            <a:endParaRPr sz="24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Sentences with sentiment scores ≤ 0.4 were labeled as negative and those ≥ 0.6 were labeled as positive. </a:t>
            </a:r>
            <a:endParaRPr sz="24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Sentences with scores between 0.4 and 0.6 were treated as neutral or ambiguous and removed from the dataset.</a:t>
            </a:r>
            <a:endParaRPr sz="2400"/>
          </a:p>
          <a:p>
            <a:pPr indent="-3810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Positive: 4962; Negative: 4650</a:t>
            </a:r>
            <a:endParaRPr sz="2400"/>
          </a:p>
        </p:txBody>
      </p:sp>
      <p:pic>
        <p:nvPicPr>
          <p:cNvPr id="253" name="Google Shape;253;g3cd521d6380_0_62" title="Screenshot 2026-03-05 at 15.16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6025" y="2719825"/>
            <a:ext cx="3617775" cy="233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d521d6380_0_78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TFIDF + Logistic Regression</a:t>
            </a:r>
            <a:endParaRPr/>
          </a:p>
        </p:txBody>
      </p:sp>
      <p:sp>
        <p:nvSpPr>
          <p:cNvPr id="260" name="Google Shape;260;g3cd521d6380_0_78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1" name="Google Shape;261;g3cd521d6380_0_78"/>
          <p:cNvSpPr txBox="1"/>
          <p:nvPr/>
        </p:nvSpPr>
        <p:spPr>
          <a:xfrm>
            <a:off x="280950" y="4205975"/>
            <a:ext cx="62466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GridSearchCV: L2 penalty, C = 1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Accuracy: 0.789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t/>
            </a:r>
            <a:endParaRPr sz="2100"/>
          </a:p>
        </p:txBody>
      </p:sp>
      <p:pic>
        <p:nvPicPr>
          <p:cNvPr id="262" name="Google Shape;262;g3cd521d6380_0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48" y="1543425"/>
            <a:ext cx="2359877" cy="9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cd521d6380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1350" y="1543425"/>
            <a:ext cx="4232450" cy="425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cd521d6380_0_78" title="Screenshot 2026-03-06 at 13.16.2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9075" y="1312800"/>
            <a:ext cx="3264675" cy="2926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cd521d6380_0_78" title="Screenshot 2026-03-06 at 12.49.0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0950" y="5106275"/>
            <a:ext cx="6469601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d521d6380_0_104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Embeddings + Logistic Regression</a:t>
            </a:r>
            <a:endParaRPr/>
          </a:p>
        </p:txBody>
      </p:sp>
      <p:sp>
        <p:nvSpPr>
          <p:cNvPr id="272" name="Google Shape;272;g3cd521d6380_0_104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3" name="Google Shape;273;g3cd521d6380_0_104"/>
          <p:cNvSpPr txBox="1"/>
          <p:nvPr/>
        </p:nvSpPr>
        <p:spPr>
          <a:xfrm>
            <a:off x="280950" y="4205975"/>
            <a:ext cx="62466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GridSearchCV: L1 penalty, C = 10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Accuracy: 0.804</a:t>
            </a:r>
            <a:endParaRPr sz="2100"/>
          </a:p>
        </p:txBody>
      </p:sp>
      <p:pic>
        <p:nvPicPr>
          <p:cNvPr id="274" name="Google Shape;274;g3cd521d6380_0_104" title="Screenshot 2026-03-06 at 12.46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275" y="1312794"/>
            <a:ext cx="3432300" cy="2811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g3cd521d6380_0_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948" y="1543425"/>
            <a:ext cx="2359877" cy="9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g3cd521d6380_0_104" title="Screenshot 2026-03-06 at 13.17.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550" y="5106275"/>
            <a:ext cx="6103403" cy="13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g3cd521d6380_0_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9950" y="1465200"/>
            <a:ext cx="5359650" cy="4504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d521d6380_0_127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Unsupervised Task: K-means on Embeddings</a:t>
            </a:r>
            <a:endParaRPr/>
          </a:p>
        </p:txBody>
      </p:sp>
      <p:sp>
        <p:nvSpPr>
          <p:cNvPr id="284" name="Google Shape;284;g3cd521d6380_0_127"/>
          <p:cNvSpPr txBox="1"/>
          <p:nvPr/>
        </p:nvSpPr>
        <p:spPr>
          <a:xfrm>
            <a:off x="652675" y="1511100"/>
            <a:ext cx="106077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# of clusters = 2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The true sentiment labels (positive vs negative) are heavily mixed across the space.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K-mean cluster: a clear separation</a:t>
            </a:r>
            <a:endParaRPr sz="2100"/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There is a meaningful structure in the embedding, but it’s not sentiment</a:t>
            </a:r>
            <a:endParaRPr sz="2100"/>
          </a:p>
        </p:txBody>
      </p:sp>
      <p:sp>
        <p:nvSpPr>
          <p:cNvPr id="285" name="Google Shape;285;g3cd521d6380_0_127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6" name="Google Shape;286;g3cd521d6380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499" y="3381299"/>
            <a:ext cx="7198063" cy="296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d521d6380_0_153"/>
          <p:cNvSpPr txBox="1"/>
          <p:nvPr/>
        </p:nvSpPr>
        <p:spPr>
          <a:xfrm>
            <a:off x="652675" y="1511100"/>
            <a:ext cx="106077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Relies strongly on explicit lexical polarity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False positives (negative misclassified as positive):</a:t>
            </a:r>
            <a:endParaRPr sz="2100"/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Positive words dominate overall meaning</a:t>
            </a:r>
            <a:endParaRPr sz="21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i="1" lang="en-US" sz="1500"/>
              <a:t>e.g., However it may please those who </a:t>
            </a:r>
            <a:r>
              <a:rPr b="1" i="1" lang="en-US" sz="1500"/>
              <a:t>love</a:t>
            </a:r>
            <a:r>
              <a:rPr i="1" lang="en-US" sz="1500"/>
              <a:t> movies that blare with pop songs , young science fiction fans will stomp away in disgust (prob_pos: 0.978)</a:t>
            </a:r>
            <a:endParaRPr i="1" sz="15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 sz="2100"/>
              <a:t>False negatives </a:t>
            </a:r>
            <a:r>
              <a:rPr lang="en-US" sz="2100">
                <a:solidFill>
                  <a:schemeClr val="dk1"/>
                </a:solidFill>
              </a:rPr>
              <a:t>(positive misclassified as negative)</a:t>
            </a:r>
            <a:r>
              <a:rPr lang="en-US" sz="2100"/>
              <a:t>:</a:t>
            </a:r>
            <a:endParaRPr sz="2100"/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-US" sz="2100"/>
              <a:t>Misses implicit or indirect positive sentiment</a:t>
            </a:r>
            <a:endParaRPr sz="2100"/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i="1" lang="en-US" sz="1500"/>
              <a:t>e.g., A taut psychological thriller that </a:t>
            </a:r>
            <a:r>
              <a:rPr b="1" i="1" lang="en-US" sz="1500"/>
              <a:t>doesn't</a:t>
            </a:r>
            <a:r>
              <a:rPr b="1" i="1" lang="en-US" sz="1500"/>
              <a:t> waste a moment </a:t>
            </a:r>
            <a:r>
              <a:rPr i="1" lang="en-US" sz="1500"/>
              <a:t>of its two-hour running time.</a:t>
            </a:r>
            <a:endParaRPr sz="2100"/>
          </a:p>
        </p:txBody>
      </p:sp>
      <p:sp>
        <p:nvSpPr>
          <p:cNvPr id="293" name="Google Shape;293;g3cd521d6380_0_153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Analysis - TF-IDF</a:t>
            </a:r>
            <a:endParaRPr/>
          </a:p>
        </p:txBody>
      </p:sp>
      <p:sp>
        <p:nvSpPr>
          <p:cNvPr id="294" name="Google Shape;294;g3cd521d6380_0_153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d521d6380_0_142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Error Analysis - Embeddings </a:t>
            </a:r>
            <a:endParaRPr/>
          </a:p>
        </p:txBody>
      </p:sp>
      <p:sp>
        <p:nvSpPr>
          <p:cNvPr id="301" name="Google Shape;301;g3cd521d6380_0_142"/>
          <p:cNvSpPr txBox="1"/>
          <p:nvPr/>
        </p:nvSpPr>
        <p:spPr>
          <a:xfrm>
            <a:off x="652675" y="1511100"/>
            <a:ext cx="106077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Uses broader semantic context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False positives (negative misclassified as positive):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Mixed praise + criticism interpreted as positive</a:t>
            </a:r>
            <a:endParaRPr sz="21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i="1" lang="en-US" sz="1500">
                <a:solidFill>
                  <a:schemeClr val="dk1"/>
                </a:solidFill>
              </a:rPr>
              <a:t>E.g., Although Huppert 's intensity and focus has </a:t>
            </a:r>
            <a:r>
              <a:rPr b="1" i="1" lang="en-US" sz="1500">
                <a:solidFill>
                  <a:schemeClr val="dk1"/>
                </a:solidFill>
              </a:rPr>
              <a:t>a raw exhilaration about it </a:t>
            </a:r>
            <a:r>
              <a:rPr i="1" lang="en-US" sz="1500">
                <a:solidFill>
                  <a:schemeClr val="dk1"/>
                </a:solidFill>
              </a:rPr>
              <a:t>, The Piano Teacher is anything but fun .</a:t>
            </a:r>
            <a:endParaRPr i="1" sz="15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Descriptive language may appear sentimentally positive</a:t>
            </a:r>
            <a:endParaRPr sz="21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-US" sz="1500">
                <a:solidFill>
                  <a:schemeClr val="dk1"/>
                </a:solidFill>
              </a:rPr>
              <a:t>E.g., It showcases Carvey 's </a:t>
            </a:r>
            <a:r>
              <a:rPr b="1" lang="en-US" sz="1500">
                <a:solidFill>
                  <a:schemeClr val="dk1"/>
                </a:solidFill>
              </a:rPr>
              <a:t>talent</a:t>
            </a:r>
            <a:r>
              <a:rPr lang="en-US" sz="1500">
                <a:solidFill>
                  <a:schemeClr val="dk1"/>
                </a:solidFill>
              </a:rPr>
              <a:t> for voices , but not nearly enough and not without taxing every drop of one 's patience to get to the good stuff .</a:t>
            </a:r>
            <a:endParaRPr sz="15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False negatives (positive misclassified as negative):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Short or implicit sentiment is difficult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Idiomatic phrasing and negation still cause errors</a:t>
            </a:r>
            <a:endParaRPr sz="2100"/>
          </a:p>
        </p:txBody>
      </p:sp>
      <p:sp>
        <p:nvSpPr>
          <p:cNvPr id="302" name="Google Shape;302;g3cd521d6380_0_142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d521d6380_0_205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Possible Improvements</a:t>
            </a:r>
            <a:endParaRPr/>
          </a:p>
        </p:txBody>
      </p:sp>
      <p:sp>
        <p:nvSpPr>
          <p:cNvPr id="309" name="Google Shape;309;g3cd521d6380_0_205"/>
          <p:cNvSpPr txBox="1"/>
          <p:nvPr/>
        </p:nvSpPr>
        <p:spPr>
          <a:xfrm>
            <a:off x="652675" y="1511100"/>
            <a:ext cx="106077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Current TF-IDF mainly uses surface word frequency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add higher-order n-grams (e.g., trigrams)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preserve important negation patterns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-US" sz="2100">
                <a:solidFill>
                  <a:schemeClr val="dk1"/>
                </a:solidFill>
              </a:rPr>
              <a:t>Fine-tune embeddings jointly with classifier (Right now logistic regression learns after embeddings are fixed)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fine-tune the encoder together with classification objective</a:t>
            </a:r>
            <a:endParaRPr sz="2100">
              <a:solidFill>
                <a:schemeClr val="dk1"/>
              </a:solidFill>
            </a:endParaRPr>
          </a:p>
          <a:p>
            <a:pPr indent="-3619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</a:pPr>
            <a:r>
              <a:rPr lang="en-US" sz="2100">
                <a:solidFill>
                  <a:schemeClr val="dk1"/>
                </a:solidFill>
              </a:rPr>
              <a:t>Improves: subtle sentiment, negation, idioms</a:t>
            </a:r>
            <a:endParaRPr sz="2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10" name="Google Shape;310;g3cd521d6380_0_205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d521d6380_0_176"/>
          <p:cNvSpPr txBox="1"/>
          <p:nvPr>
            <p:ph type="title"/>
          </p:nvPr>
        </p:nvSpPr>
        <p:spPr>
          <a:xfrm>
            <a:off x="838200" y="0"/>
            <a:ext cx="10515600" cy="13128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Overall Comparison</a:t>
            </a:r>
            <a:endParaRPr/>
          </a:p>
        </p:txBody>
      </p:sp>
      <p:sp>
        <p:nvSpPr>
          <p:cNvPr id="317" name="Google Shape;317;g3cd521d6380_0_176"/>
          <p:cNvSpPr txBox="1"/>
          <p:nvPr>
            <p:ph idx="12" type="sldNum"/>
          </p:nvPr>
        </p:nvSpPr>
        <p:spPr>
          <a:xfrm>
            <a:off x="8610601" y="6459132"/>
            <a:ext cx="3432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g3cd521d6380_0_176"/>
          <p:cNvSpPr txBox="1"/>
          <p:nvPr/>
        </p:nvSpPr>
        <p:spPr>
          <a:xfrm>
            <a:off x="633625" y="4501950"/>
            <a:ext cx="113055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Clustering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i="1" lang="en-US" sz="2100">
                <a:solidFill>
                  <a:schemeClr val="dk1"/>
                </a:solidFill>
              </a:rPr>
              <a:t>sentiment structure does not strongly emerge in the embedding space without supervision</a:t>
            </a:r>
            <a:endParaRPr i="1"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sentiment may not be organized as a simple geometric cluster structure, and may be encoded in more complex directions or dimensions of the representation space.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19" name="Google Shape;319;g3cd521d6380_0_176"/>
          <p:cNvSpPr txBox="1"/>
          <p:nvPr/>
        </p:nvSpPr>
        <p:spPr>
          <a:xfrm>
            <a:off x="633625" y="1558800"/>
            <a:ext cx="52164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TF-IDF model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i="1" lang="en-US" sz="2100">
                <a:solidFill>
                  <a:schemeClr val="dk1"/>
                </a:solidFill>
              </a:rPr>
              <a:t>Has slightly lower accuracy (~78%)</a:t>
            </a:r>
            <a:endParaRPr i="1"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Works well when sentiment is expressed through clear lexical markers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Cannot capture sentence structure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20" name="Google Shape;320;g3cd521d6380_0_176"/>
          <p:cNvSpPr txBox="1"/>
          <p:nvPr/>
        </p:nvSpPr>
        <p:spPr>
          <a:xfrm>
            <a:off x="6418500" y="1463550"/>
            <a:ext cx="56244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Embedding model</a:t>
            </a:r>
            <a:endParaRPr b="1"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i="1" lang="en-US" sz="2100">
                <a:solidFill>
                  <a:schemeClr val="dk1"/>
                </a:solidFill>
              </a:rPr>
              <a:t>Has a slightly higher accuracy (~ 80.3%); </a:t>
            </a:r>
            <a:endParaRPr i="1"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Better captures overall semantic meaning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</a:rPr>
              <a:t>Can misinterpret subtle or ambiguous sentiment</a:t>
            </a:r>
            <a:endParaRPr sz="2100">
              <a:solidFill>
                <a:schemeClr val="dk1"/>
              </a:solidFill>
            </a:endParaRPr>
          </a:p>
        </p:txBody>
      </p:sp>
      <p:cxnSp>
        <p:nvCxnSpPr>
          <p:cNvPr id="321" name="Google Shape;321;g3cd521d6380_0_176"/>
          <p:cNvCxnSpPr/>
          <p:nvPr/>
        </p:nvCxnSpPr>
        <p:spPr>
          <a:xfrm>
            <a:off x="6123763" y="1470538"/>
            <a:ext cx="21000" cy="2786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g3cd521d6380_0_176"/>
          <p:cNvCxnSpPr/>
          <p:nvPr/>
        </p:nvCxnSpPr>
        <p:spPr>
          <a:xfrm>
            <a:off x="657025" y="4414975"/>
            <a:ext cx="112587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d521d6380_0_229"/>
          <p:cNvSpPr txBox="1"/>
          <p:nvPr>
            <p:ph type="ctrTitle"/>
          </p:nvPr>
        </p:nvSpPr>
        <p:spPr>
          <a:xfrm>
            <a:off x="914400" y="1201100"/>
            <a:ext cx="10384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Times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Thank you!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8" name="Google Shape;328;g3cd521d6380_0_229"/>
          <p:cNvSpPr txBox="1"/>
          <p:nvPr>
            <p:ph idx="1" type="subTitle"/>
          </p:nvPr>
        </p:nvSpPr>
        <p:spPr>
          <a:xfrm>
            <a:off x="950595" y="3681095"/>
            <a:ext cx="55518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Times"/>
                <a:ea typeface="Times"/>
                <a:cs typeface="Times"/>
                <a:sym typeface="Times"/>
              </a:rPr>
              <a:t>Victoria Wen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Chicago">
  <a:themeElements>
    <a:clrScheme name="Custom 3">
      <a:dk1>
        <a:srgbClr val="000000"/>
      </a:dk1>
      <a:lt1>
        <a:srgbClr val="FFFFFF"/>
      </a:lt1>
      <a:dk2>
        <a:srgbClr val="737373"/>
      </a:dk2>
      <a:lt2>
        <a:srgbClr val="D9D9D9"/>
      </a:lt2>
      <a:accent1>
        <a:srgbClr val="800000"/>
      </a:accent1>
      <a:accent2>
        <a:srgbClr val="D9D9D9"/>
      </a:accent2>
      <a:accent3>
        <a:srgbClr val="A6A6A6"/>
      </a:accent3>
      <a:accent4>
        <a:srgbClr val="EAAA00"/>
      </a:accent4>
      <a:accent5>
        <a:srgbClr val="B36955"/>
      </a:accent5>
      <a:accent6>
        <a:srgbClr val="002A3A"/>
      </a:accent6>
      <a:hlink>
        <a:srgbClr val="800000"/>
      </a:hlink>
      <a:folHlink>
        <a:srgbClr val="7373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2026-02-07T06:31:21Z</dcterms:created>
  <dc:creator>Renee Kuklenski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9D32BD20ED09AAECF2DA8669734A0484_43</vt:lpwstr>
  </property>
  <property fmtid="{D5CDD505-2E9C-101B-9397-08002B2CF9AE}" pid="3" name="KSOProductBuildVer">
    <vt:lpwstr>1033-12.1.21861.21861</vt:lpwstr>
  </property>
</Properties>
</file>